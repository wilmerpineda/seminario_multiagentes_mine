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163fc65a514b8d" /><Relationship Type="http://schemas.openxmlformats.org/officeDocument/2006/relationships/extended-properties" Target="/docProps/app.xml" Id="Rd60072db20a246a2" /><Relationship Type="http://schemas.openxmlformats.org/officeDocument/2006/relationships/officeDocument" Target="/ppt/presentation.xml" Id="R22a7fbb500f042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8bb971a144f9a"/>
  </p:sldMasterIdLst>
  <p:notesMasterIdLst>
    <p:notesMasterId xmlns:r="http://schemas.openxmlformats.org/officeDocument/2006/relationships" r:id="R3d9ff68832414e2b"/>
  </p:notesMasterIdLst>
  <p:sldIdLst>
    <p:sldId xmlns:r="http://schemas.openxmlformats.org/officeDocument/2006/relationships" id="256" r:id="R8f15aaf0ac99423d"/>
    <p:sldId xmlns:r="http://schemas.openxmlformats.org/officeDocument/2006/relationships" id="257" r:id="Re793ceb0826e42b2"/>
    <p:sldId xmlns:r="http://schemas.openxmlformats.org/officeDocument/2006/relationships" id="258" r:id="R52701b50206d4125"/>
    <p:sldId xmlns:r="http://schemas.openxmlformats.org/officeDocument/2006/relationships" id="259" r:id="R97390003795e4812"/>
    <p:sldId xmlns:r="http://schemas.openxmlformats.org/officeDocument/2006/relationships" id="260" r:id="R47432d64c52a4a0b"/>
    <p:sldId xmlns:r="http://schemas.openxmlformats.org/officeDocument/2006/relationships" id="261" r:id="Rb1dff977ecae44ff"/>
    <p:sldId xmlns:r="http://schemas.openxmlformats.org/officeDocument/2006/relationships" id="262" r:id="R556eb0556a2d4d50"/>
    <p:sldId xmlns:r="http://schemas.openxmlformats.org/officeDocument/2006/relationships" id="263" r:id="Ra8c95451c3b84e2a"/>
    <p:sldId xmlns:r="http://schemas.openxmlformats.org/officeDocument/2006/relationships" id="264" r:id="R788329165d4245e5"/>
    <p:sldId xmlns:r="http://schemas.openxmlformats.org/officeDocument/2006/relationships" id="265" r:id="Ra22ea71d87234efa"/>
    <p:sldId xmlns:r="http://schemas.openxmlformats.org/officeDocument/2006/relationships" id="266" r:id="R6980b7cde1164aa6"/>
    <p:sldId xmlns:r="http://schemas.openxmlformats.org/officeDocument/2006/relationships" id="267" r:id="Ra66f3dade6454e73"/>
    <p:sldId xmlns:r="http://schemas.openxmlformats.org/officeDocument/2006/relationships" id="268" r:id="Rc63e1e856f5944ec"/>
    <p:sldId xmlns:r="http://schemas.openxmlformats.org/officeDocument/2006/relationships" id="269" r:id="R5d50c8257b844632"/>
    <p:sldId xmlns:r="http://schemas.openxmlformats.org/officeDocument/2006/relationships" id="270" r:id="R23fd615720f44c59"/>
    <p:sldId xmlns:r="http://schemas.openxmlformats.org/officeDocument/2006/relationships" id="271" r:id="Rf840d3d8567e4919"/>
    <p:sldId xmlns:r="http://schemas.openxmlformats.org/officeDocument/2006/relationships" id="272" r:id="R1294f60c2e0f4039"/>
    <p:sldId xmlns:r="http://schemas.openxmlformats.org/officeDocument/2006/relationships" id="273" r:id="Rdcf586c3191a4a3e"/>
    <p:sldId xmlns:r="http://schemas.openxmlformats.org/officeDocument/2006/relationships" id="274" r:id="Rf28bb2eee175482b"/>
    <p:sldId xmlns:r="http://schemas.openxmlformats.org/officeDocument/2006/relationships" id="275" r:id="Rc4ce64af91a34447"/>
    <p:sldId xmlns:r="http://schemas.openxmlformats.org/officeDocument/2006/relationships" id="276" r:id="R148a211555d74d57"/>
    <p:sldId xmlns:r="http://schemas.openxmlformats.org/officeDocument/2006/relationships" id="277" r:id="R228561af7a344329"/>
    <p:sldId xmlns:r="http://schemas.openxmlformats.org/officeDocument/2006/relationships" id="278" r:id="R9580e07cf7e5490d"/>
    <p:sldId xmlns:r="http://schemas.openxmlformats.org/officeDocument/2006/relationships" id="279" r:id="Rc6e32693aa0448ba"/>
    <p:sldId xmlns:r="http://schemas.openxmlformats.org/officeDocument/2006/relationships" id="280" r:id="R4ff0b90375b140b2"/>
    <p:sldId xmlns:r="http://schemas.openxmlformats.org/officeDocument/2006/relationships" id="281" r:id="Rc470fa0cec0c4327"/>
    <p:sldId xmlns:r="http://schemas.openxmlformats.org/officeDocument/2006/relationships" id="282" r:id="Rd70a4b99e09b4e4c"/>
    <p:sldId xmlns:r="http://schemas.openxmlformats.org/officeDocument/2006/relationships" id="283" r:id="R52bf4132d09c41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6c278e160421a" /><Relationship Type="http://schemas.openxmlformats.org/officeDocument/2006/relationships/slideMaster" Target="/ppt/slideMasters/slideMaster1.xml" Id="R6228bb971a144f9a" /><Relationship Type="http://schemas.openxmlformats.org/officeDocument/2006/relationships/notesMaster" Target="/ppt/notesMasters/notesMaster1.xml" Id="R3d9ff68832414e2b" /><Relationship Type="http://schemas.openxmlformats.org/officeDocument/2006/relationships/presProps" Target="/ppt/presProps.xml" Id="Ra5bb42db70d941cb" /><Relationship Type="http://schemas.openxmlformats.org/officeDocument/2006/relationships/tableStyles" Target="/ppt/tableStyles.xml" Id="R8de00fd0bdcf4603" /><Relationship Type="http://schemas.openxmlformats.org/officeDocument/2006/relationships/slide" Target="/ppt/slides/slide1.xml" Id="R8f15aaf0ac99423d" /><Relationship Type="http://schemas.openxmlformats.org/officeDocument/2006/relationships/slide" Target="/ppt/slides/slide2.xml" Id="Re793ceb0826e42b2" /><Relationship Type="http://schemas.openxmlformats.org/officeDocument/2006/relationships/slide" Target="/ppt/slides/slide3.xml" Id="R52701b50206d4125" /><Relationship Type="http://schemas.openxmlformats.org/officeDocument/2006/relationships/slide" Target="/ppt/slides/slide4.xml" Id="R97390003795e4812" /><Relationship Type="http://schemas.openxmlformats.org/officeDocument/2006/relationships/slide" Target="/ppt/slides/slide5.xml" Id="R47432d64c52a4a0b" /><Relationship Type="http://schemas.openxmlformats.org/officeDocument/2006/relationships/slide" Target="/ppt/slides/slide6.xml" Id="Rb1dff977ecae44ff" /><Relationship Type="http://schemas.openxmlformats.org/officeDocument/2006/relationships/slide" Target="/ppt/slides/slide7.xml" Id="R556eb0556a2d4d50" /><Relationship Type="http://schemas.openxmlformats.org/officeDocument/2006/relationships/slide" Target="/ppt/slides/slide8.xml" Id="Ra8c95451c3b84e2a" /><Relationship Type="http://schemas.openxmlformats.org/officeDocument/2006/relationships/slide" Target="/ppt/slides/slide9.xml" Id="R788329165d4245e5" /><Relationship Type="http://schemas.openxmlformats.org/officeDocument/2006/relationships/slide" Target="/ppt/slides/slide10.xml" Id="Ra22ea71d87234efa" /><Relationship Type="http://schemas.openxmlformats.org/officeDocument/2006/relationships/slide" Target="/ppt/slides/slide11.xml" Id="R6980b7cde1164aa6" /><Relationship Type="http://schemas.openxmlformats.org/officeDocument/2006/relationships/slide" Target="/ppt/slides/slide12.xml" Id="Ra66f3dade6454e73" /><Relationship Type="http://schemas.openxmlformats.org/officeDocument/2006/relationships/slide" Target="/ppt/slides/slide13.xml" Id="Rc63e1e856f5944ec" /><Relationship Type="http://schemas.openxmlformats.org/officeDocument/2006/relationships/slide" Target="/ppt/slides/slide14.xml" Id="R5d50c8257b844632" /><Relationship Type="http://schemas.openxmlformats.org/officeDocument/2006/relationships/slide" Target="/ppt/slides/slide15.xml" Id="R23fd615720f44c59" /><Relationship Type="http://schemas.openxmlformats.org/officeDocument/2006/relationships/slide" Target="/ppt/slides/slide16.xml" Id="Rf840d3d8567e4919" /><Relationship Type="http://schemas.openxmlformats.org/officeDocument/2006/relationships/slide" Target="/ppt/slides/slide17.xml" Id="R1294f60c2e0f4039" /><Relationship Type="http://schemas.openxmlformats.org/officeDocument/2006/relationships/slide" Target="/ppt/slides/slide18.xml" Id="Rdcf586c3191a4a3e" /><Relationship Type="http://schemas.openxmlformats.org/officeDocument/2006/relationships/slide" Target="/ppt/slides/slide19.xml" Id="Rf28bb2eee175482b" /><Relationship Type="http://schemas.openxmlformats.org/officeDocument/2006/relationships/slide" Target="/ppt/slides/slide20.xml" Id="Rc4ce64af91a34447" /><Relationship Type="http://schemas.openxmlformats.org/officeDocument/2006/relationships/slide" Target="/ppt/slides/slide21.xml" Id="R148a211555d74d57" /><Relationship Type="http://schemas.openxmlformats.org/officeDocument/2006/relationships/slide" Target="/ppt/slides/slide22.xml" Id="R228561af7a344329" /><Relationship Type="http://schemas.openxmlformats.org/officeDocument/2006/relationships/slide" Target="/ppt/slides/slide23.xml" Id="R9580e07cf7e5490d" /><Relationship Type="http://schemas.openxmlformats.org/officeDocument/2006/relationships/slide" Target="/ppt/slides/slide24.xml" Id="Rc6e32693aa0448ba" /><Relationship Type="http://schemas.openxmlformats.org/officeDocument/2006/relationships/slide" Target="/ppt/slides/slide25.xml" Id="R4ff0b90375b140b2" /><Relationship Type="http://schemas.openxmlformats.org/officeDocument/2006/relationships/slide" Target="/ppt/slides/slide26.xml" Id="Rc470fa0cec0c4327" /><Relationship Type="http://schemas.openxmlformats.org/officeDocument/2006/relationships/slide" Target="/ppt/slides/slide27.xml" Id="Rd70a4b99e09b4e4c" /><Relationship Type="http://schemas.openxmlformats.org/officeDocument/2006/relationships/slide" Target="/ppt/slides/slide28.xml" Id="R52bf4132d09c41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9b534ef38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e500d28ba4248" /><Relationship Type="http://schemas.openxmlformats.org/officeDocument/2006/relationships/notesMaster" Target="/ppt/notesMasters/notesMaster1.xml" Id="R2a2932825aab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49f39ec9848b5" /><Relationship Type="http://schemas.openxmlformats.org/officeDocument/2006/relationships/notesMaster" Target="/ppt/notesMasters/notesMaster1.xml" Id="R03ff7030be2b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1ea19063746de" /><Relationship Type="http://schemas.openxmlformats.org/officeDocument/2006/relationships/notesMaster" Target="/ppt/notesMasters/notesMaster1.xml" Id="R1bf5a69bcc3f41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9dfa0b9864ad9" /><Relationship Type="http://schemas.openxmlformats.org/officeDocument/2006/relationships/notesMaster" Target="/ppt/notesMasters/notesMaster1.xml" Id="R0647b531099c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64c94e8b6341e3" /><Relationship Type="http://schemas.openxmlformats.org/officeDocument/2006/relationships/notesMaster" Target="/ppt/notesMasters/notesMaster1.xml" Id="R021044a611e8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9a975e05049dc" /><Relationship Type="http://schemas.openxmlformats.org/officeDocument/2006/relationships/notesMaster" Target="/ppt/notesMasters/notesMaster1.xml" Id="Rd2aa62f30f09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c81ce8b294a6e" /><Relationship Type="http://schemas.openxmlformats.org/officeDocument/2006/relationships/notesMaster" Target="/ppt/notesMasters/notesMaster1.xml" Id="Rc3f5106d1ebd4e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d7946c637b4833" /><Relationship Type="http://schemas.openxmlformats.org/officeDocument/2006/relationships/notesMaster" Target="/ppt/notesMasters/notesMaster1.xml" Id="Rfe3653dc32a34e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32ac5787084fe0" /><Relationship Type="http://schemas.openxmlformats.org/officeDocument/2006/relationships/notesMaster" Target="/ppt/notesMasters/notesMaster1.xml" Id="Ra86a228046b941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c79dee5cb746ce" /><Relationship Type="http://schemas.openxmlformats.org/officeDocument/2006/relationships/notesMaster" Target="/ppt/notesMasters/notesMaster1.xml" Id="Re9bdd6b9757043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8c6023d289488b" /><Relationship Type="http://schemas.openxmlformats.org/officeDocument/2006/relationships/notesMaster" Target="/ppt/notesMasters/notesMaster1.xml" Id="Rf2db6f88e61844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0c412e61c34a4f" /><Relationship Type="http://schemas.openxmlformats.org/officeDocument/2006/relationships/notesMaster" Target="/ppt/notesMasters/notesMaster1.xml" Id="Rc18772c1d20a4c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62e34d83ae4723" /><Relationship Type="http://schemas.openxmlformats.org/officeDocument/2006/relationships/notesMaster" Target="/ppt/notesMasters/notesMaster1.xml" Id="R0d459e94ed0c41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821ced353544bc" /><Relationship Type="http://schemas.openxmlformats.org/officeDocument/2006/relationships/notesMaster" Target="/ppt/notesMasters/notesMaster1.xml" Id="Rc7eea4b3384f44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423bba74e44110" /><Relationship Type="http://schemas.openxmlformats.org/officeDocument/2006/relationships/notesMaster" Target="/ppt/notesMasters/notesMaster1.xml" Id="R5d9445668a5d4f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41508d0cd24145" /><Relationship Type="http://schemas.openxmlformats.org/officeDocument/2006/relationships/notesMaster" Target="/ppt/notesMasters/notesMaster1.xml" Id="Rcf0c1ee9d75442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6b2a968577496a" /><Relationship Type="http://schemas.openxmlformats.org/officeDocument/2006/relationships/notesMaster" Target="/ppt/notesMasters/notesMaster1.xml" Id="Re8ccd232413644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8e498670a14eb3" /><Relationship Type="http://schemas.openxmlformats.org/officeDocument/2006/relationships/notesMaster" Target="/ppt/notesMasters/notesMaster1.xml" Id="R3609d0f504e846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07c4820e6f46b5" /><Relationship Type="http://schemas.openxmlformats.org/officeDocument/2006/relationships/notesMaster" Target="/ppt/notesMasters/notesMaster1.xml" Id="Rd380c69b50fc40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376429326341e2" /><Relationship Type="http://schemas.openxmlformats.org/officeDocument/2006/relationships/notesMaster" Target="/ppt/notesMasters/notesMaster1.xml" Id="Rede5c93316e342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2f5d84ed0c479a" /><Relationship Type="http://schemas.openxmlformats.org/officeDocument/2006/relationships/notesMaster" Target="/ppt/notesMasters/notesMaster1.xml" Id="R535c4a7506d04e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11450004684e20" /><Relationship Type="http://schemas.openxmlformats.org/officeDocument/2006/relationships/notesMaster" Target="/ppt/notesMasters/notesMaster1.xml" Id="R51a33876c9dd43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f985bf77d84dc9" /><Relationship Type="http://schemas.openxmlformats.org/officeDocument/2006/relationships/notesMaster" Target="/ppt/notesMasters/notesMaster1.xml" Id="R1920aeb5b26c4a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3e33dbed0f4f26" /><Relationship Type="http://schemas.openxmlformats.org/officeDocument/2006/relationships/notesMaster" Target="/ppt/notesMasters/notesMaster1.xml" Id="Rd5c6bad8bcf14a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b7ce2e19db4a64" /><Relationship Type="http://schemas.openxmlformats.org/officeDocument/2006/relationships/notesMaster" Target="/ppt/notesMasters/notesMaster1.xml" Id="Rfb3f85efe5fc47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d23fca213448f7" /><Relationship Type="http://schemas.openxmlformats.org/officeDocument/2006/relationships/notesMaster" Target="/ppt/notesMasters/notesMaster1.xml" Id="Rf7cee896823e48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8eff7bb0b048ee" /><Relationship Type="http://schemas.openxmlformats.org/officeDocument/2006/relationships/notesMaster" Target="/ppt/notesMasters/notesMaster1.xml" Id="R8c6b989f709a4c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9bcd798ccb4ab7" /><Relationship Type="http://schemas.openxmlformats.org/officeDocument/2006/relationships/notesMaster" Target="/ppt/notesMasters/notesMaster1.xml" Id="Rb3c974d87faa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una demo correcta no demuestra confiabilidad. La sesión convertirá el sistema BI de la sesión 8 en un sistema bajo prueba.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caso didáctico: un promedio alto puede ocultar daño concentrado. No inventar cifras reales; el 95 % es una ilustración conceptual.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evaluación y gobernanza son inseparables: una métrica sin propietario no controla el riesgo.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Recapitular la arquitectura de la sesión 8. El laboratorio intercepta el contrato completo: intención, SQL, filas, resumen, reviewer y trazas.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clase con los casos JSONL del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Subrayar que un LLM no debe certificar por sí solo a otro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a los estudiantes que distingan exactitud factual, soporte y trazabilidad.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Ejecutar los casos E05 y E07. Una falla detectada es evidencia de una brecha, no un fracaso del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la taxonomía de ciclo de vida. Evitar reducir sesgo a una única métrica de paridad.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Controlar desde el inventario, linaje, minimización, finalidad y análisis de representación. Responsables: data steward, dueño de fuente y DPO.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cifras son ilustrativas. Mostrar por qué se necesitan slices e intersecciones, junto con protección contra reidentificación.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Controles: objetivos múltiples, auditoría de exposición, límites de frecuencia, explicación y aprobación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con el caso E03. Preguntar quién queda fuera si el gold set solo usa preguntas escritas por el equipo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Controles: contratos tipados, aislamiento, límites, estado explícito, degradación visible, trazas y pruebas de integración.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automation bias y rubber stamping. Una persona en el flujo no garantiza control humano significativo.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simulador de costos del dashboard. Las tarifas son configurables y no se presentan como precios vigentes.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principio sin propietario, evidencia y frecuencia no es un control operativo.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ciclo de vida y pedir ejemplos de decisiones que pertenecen a cada responsable.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Adaptar el modelo a la organización. Lo central es separar operación, supervisión y aseguramiento independiente.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llamar «leyes» a todos los instrumentos. Distinguir naturaleza, jurisdicción y obligatoriedad.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Función Pública. Ley 1581 de 2012. https://www.funcionpublica.gov.co/eva/gestornormativo/norma.php?i=49981&amp;rd=1</a:t>
            </a:r>
          </a:p>
          <a:p xmlns:a="http://schemas.openxmlformats.org/drawingml/2006/main">
            <a:r>
              <a:t>- SIC. Circular Externa 002 de 2024. https://sedeelectronica.sic.gov.co/transparencia/normativa/circular-externa-2-de-2024-de-la-superintendencia-de-industria-y-comercio-lineamientos-sobre-el-tratamiento-de-datos</a:t>
            </a:r>
          </a:p>
          <a:p xmlns:a="http://schemas.openxmlformats.org/drawingml/2006/main">
            <a:r>
              <a:t>- DNP. Documento CONPES 4144, Política Nacional de Inteligencia Artificial, 14 febrero 2025. https://colaboracion.dnp.gov.co/CDT/Conpes/Econ%C3%B3micos/4144.pdf</a:t>
            </a:r>
          </a:p>
          <a:p xmlns:a="http://schemas.openxmlformats.org/drawingml/2006/main">
            <a:r>
              <a:t>- MinTIC. Guía Ética para la Implementación, Desarrollo y Uso de Sistemas de IA en Entidades Públicas de Colombia, actualización 7 enero 2026. https://mintic.gov.co/portal/715/w3-article-425888.html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los derechos de los titulares con controles técnicos y organizacionales. No presentar esta explicación como asesoría jurídica.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Función Pública. Ley Estatutaria 1581 de 2012. https://www.funcionpublica.gov.co/eva/gestornormativo/norma.php?i=49981&amp;rd=1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circular contiene lineamientos de la autoridad colombiana de protección de datos para sistemas de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Superintendencia de Industria y Comercio. Circular Externa 002 de 2024, Lineamientos sobre el Tratamiento de Datos Personales en Sistemas de IA. https://sedeelectronica.sic.gov.co/transparencia/normativa/circular-externa-2-de-2024-de-la-superintendencia-de-industria-y-comercio-lineamientos-sobre-el-tratamiento-de-datos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política pública de obligación legal particular.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Departamento Nacional de Planeación. Documento CONPES 4144, Política Nacional de Inteligencia Artificial, versión aprobada 14 febrero 2025. https://colaboracion.dnp.gov.co/CDT/Conpes/Econ%C3%B3micos/4144.pdf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guía está orientada a entidades públicas nacionales y no es una ley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Ministerio TIC. Guía Ética para la Implementación, Desarrollo y Uso de Sistemas de Inteligencia Artificial en Entidades Públicas de Colombia. Actualización 7 enero 2026. https://mintic.gov.co/portal/715/w3-article-425888.html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presentar NIST o ISO como ley colombiana. Verificar el cronograma europeo antes de impartir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NIST. AI Risk Management Framework. https://www.nist.gov/itl/ai-risk-management-framework</a:t>
            </a:r>
          </a:p>
          <a:p xmlns:a="http://schemas.openxmlformats.org/drawingml/2006/main">
            <a:r>
              <a:t>- NIST. Artificial Intelligence Risk Management Framework: Generative Artificial Intelligence Profile, NIST-AI-600-1, 26 julio 2024. https://nvlpubs.nist.gov/nistpubs/ai/NIST.AI.600-1.pdf</a:t>
            </a:r>
          </a:p>
          <a:p xmlns:a="http://schemas.openxmlformats.org/drawingml/2006/main">
            <a:r>
              <a:t>- ISO. ISO/IEC 42001:2023, Information technology — Artificial intelligence — Management system. https://www.iso.org/standard/42001</a:t>
            </a:r>
          </a:p>
          <a:p xmlns:a="http://schemas.openxmlformats.org/drawingml/2006/main">
            <a:r>
              <a:t>- European Commission. AI Act — Regulatory framework for artificial intelligence. https://digital-strategy.ec.europa.eu/en/policies/regulatory-framework-ai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primero los casos baseline y después seguridad, privacidad y RAG. Abrir las trazas del caso que falla.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Simular un caso: la API devuelve datos de otra cuenta. Pedir al grupo que asigne cada paso a un 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el laboratorio con el canvas de gobernanza del proyecto final. La entrega vale 10 % de la nota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8c593bf154d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37a0de39a74975" /><Relationship Type="http://schemas.openxmlformats.org/officeDocument/2006/relationships/slideLayout" Target="/ppt/slideLayouts/slideLayout1.xml" Id="R3dcd1955f2a547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d1955f2a547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c4c269be84614" /><Relationship Type="http://schemas.openxmlformats.org/officeDocument/2006/relationships/notesSlide" Target="/ppt/notesSlides/notesSlide1.xml" Id="R14c45f21b400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8aa5606245d5" /><Relationship Type="http://schemas.openxmlformats.org/officeDocument/2006/relationships/notesSlide" Target="/ppt/notesSlides/notesSlide2.xml" Id="Ra0a50266d121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9ba7b72f42f0" /><Relationship Type="http://schemas.openxmlformats.org/officeDocument/2006/relationships/notesSlide" Target="/ppt/notesSlides/notesSlide3.xml" Id="R9ac775b25705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9d3b54e164067" /><Relationship Type="http://schemas.openxmlformats.org/officeDocument/2006/relationships/notesSlide" Target="/ppt/notesSlides/notesSlide4.xml" Id="R73859f71c5b6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aef4216bd4298" /><Relationship Type="http://schemas.openxmlformats.org/officeDocument/2006/relationships/notesSlide" Target="/ppt/notesSlides/notesSlide5.xml" Id="R7be10fe2eae5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cf639b2e74262" /><Relationship Type="http://schemas.openxmlformats.org/officeDocument/2006/relationships/notesSlide" Target="/ppt/notesSlides/notesSlide6.xml" Id="R843522bbabcb43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1a957d1744859" /><Relationship Type="http://schemas.openxmlformats.org/officeDocument/2006/relationships/notesSlide" Target="/ppt/notesSlides/notesSlide7.xml" Id="Ref194875eb314c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25bd810184efe" /><Relationship Type="http://schemas.openxmlformats.org/officeDocument/2006/relationships/notesSlide" Target="/ppt/notesSlides/notesSlide8.xml" Id="R8c922524bb0c41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9ada186aa4f89" /><Relationship Type="http://schemas.openxmlformats.org/officeDocument/2006/relationships/notesSlide" Target="/ppt/notesSlides/notesSlide9.xml" Id="R270e366d460649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7e845e1db4f44" /><Relationship Type="http://schemas.openxmlformats.org/officeDocument/2006/relationships/notesSlide" Target="/ppt/notesSlides/notesSlide10.xml" Id="Rf58815ad2e0a45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3e77304694262" /><Relationship Type="http://schemas.openxmlformats.org/officeDocument/2006/relationships/chart" Target="/ppt/slides/charts/chart1.xml" Id="R2722105e0afd4969" /><Relationship Type="http://schemas.openxmlformats.org/officeDocument/2006/relationships/notesSlide" Target="/ppt/notesSlides/notesSlide11.xml" Id="Ra8c82eb6b9564a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2941a5ba543a8" /><Relationship Type="http://schemas.openxmlformats.org/officeDocument/2006/relationships/notesSlide" Target="/ppt/notesSlides/notesSlide12.xml" Id="R2976f365e63b4d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3c93ba7e45c6" /><Relationship Type="http://schemas.openxmlformats.org/officeDocument/2006/relationships/notesSlide" Target="/ppt/notesSlides/notesSlide13.xml" Id="R7bdcaa37f76e41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18665480e4f5d" /><Relationship Type="http://schemas.openxmlformats.org/officeDocument/2006/relationships/notesSlide" Target="/ppt/notesSlides/notesSlide14.xml" Id="R382afe92c82640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ccf3caa5d4103" /><Relationship Type="http://schemas.openxmlformats.org/officeDocument/2006/relationships/notesSlide" Target="/ppt/notesSlides/notesSlide15.xml" Id="R0a29d5e4656b4e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ee26968014c56" /><Relationship Type="http://schemas.openxmlformats.org/officeDocument/2006/relationships/notesSlide" Target="/ppt/notesSlides/notesSlide16.xml" Id="Rda36ef7b48994e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f1fa3e2c24ddc" /><Relationship Type="http://schemas.openxmlformats.org/officeDocument/2006/relationships/notesSlide" Target="/ppt/notesSlides/notesSlide17.xml" Id="Rcdaa1e4a9a5640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e2db7c8df409f" /><Relationship Type="http://schemas.openxmlformats.org/officeDocument/2006/relationships/notesSlide" Target="/ppt/notesSlides/notesSlide18.xml" Id="Rd50c124479d741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fb0b520a4d0f" /><Relationship Type="http://schemas.openxmlformats.org/officeDocument/2006/relationships/notesSlide" Target="/ppt/notesSlides/notesSlide19.xml" Id="Raa9eee52f7104d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e35aa5d65480c" /><Relationship Type="http://schemas.openxmlformats.org/officeDocument/2006/relationships/notesSlide" Target="/ppt/notesSlides/notesSlide20.xml" Id="R2c7c0cde8f1044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f7589fcf4cfd" /><Relationship Type="http://schemas.openxmlformats.org/officeDocument/2006/relationships/notesSlide" Target="/ppt/notesSlides/notesSlide21.xml" Id="Rccda91b9b82a40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3cf31f2554907" /><Relationship Type="http://schemas.openxmlformats.org/officeDocument/2006/relationships/notesSlide" Target="/ppt/notesSlides/notesSlide22.xml" Id="Rb0e6a397841c43a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a86d9839041a5" /><Relationship Type="http://schemas.openxmlformats.org/officeDocument/2006/relationships/notesSlide" Target="/ppt/notesSlides/notesSlide23.xml" Id="Rd632d812a7654e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3003a4c6640ba" /><Relationship Type="http://schemas.openxmlformats.org/officeDocument/2006/relationships/notesSlide" Target="/ppt/notesSlides/notesSlide24.xml" Id="Rc8aeb4f499f143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288360b444449" /><Relationship Type="http://schemas.openxmlformats.org/officeDocument/2006/relationships/notesSlide" Target="/ppt/notesSlides/notesSlide25.xml" Id="Rb4e537fbc43c43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b138a9dd4512" /><Relationship Type="http://schemas.openxmlformats.org/officeDocument/2006/relationships/notesSlide" Target="/ppt/notesSlides/notesSlide26.xml" Id="R2bd86eb5aa03446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6cfa603245aa" /><Relationship Type="http://schemas.openxmlformats.org/officeDocument/2006/relationships/notesSlide" Target="/ppt/notesSlides/notesSlide27.xml" Id="Rac573870fb874c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e6259c4ec4fa0" /><Relationship Type="http://schemas.openxmlformats.org/officeDocument/2006/relationships/notesSlide" Target="/ppt/notesSlides/notesSlide28.xml" Id="R78d988478ffa44a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Tasa de aprobación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Global</c:v>
              </c:pt>
              <c:pt idx="1">
                <c:v>Región Pacífica</c:v>
              </c:pt>
              <c:pt idx="2">
                <c:v>Lenguaje coloquial</c:v>
              </c:pt>
              <c:pt idx="3">
                <c:v>Intersección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87</c:v>
              </c:pt>
              <c:pt idx="2">
                <c:v>82</c:v>
              </c:pt>
              <c:pt idx="3">
                <c:v>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2DE4E9A-AF54-4B5B-B736-170BBFD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SEMINARIO MULTIAGENTES · SESIÓN 10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9D69F5-8BC8-4F1F-848C-721550A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Evaluar antes de confiar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EC1523E-53BE-4DA8-8351-FCE08F07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Riesgos, sesgos y gobernanza de sistemas de IA</a:t>
            </a:r>
          </a:p>
        </p:txBody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9D6910FB-4F6C-480B-B3D3-8A6B760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"/>
            <a:ext cx="25527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E2EA475F-5563-4E69-ADBD-B8179F56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952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¿Podemos medirlo,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explicarlo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 detenerlo?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FDD454-F1A9-436A-B516-2ED8147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7103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F7319DFF-2A7E-40C7-9A5E-C232E7FA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APERTURA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79169F-74A9-4D96-A060-A4A8062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promedio puede aprobar mientras una población falla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764744-B203-45CD-B859-9444103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483BE88D-5DA5-4780-90BE-6AB3C27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95 % global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≠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95 % para todos</a:t>
            </a:r>
          </a:p>
        </p:txBody>
      </p:sp>
      <p:sp>
        <p:nvSpPr>
          <p:cNvPr id="5" name="detail">
            <a:extLst xmlns:a="http://schemas.openxmlformats.org/drawingml/2006/main">
              <a:ext uri="{FF2B5EF4-FFF2-40B4-BE49-F238E27FC236}">
                <a16:creationId xmlns:a16="http://schemas.microsoft.com/office/drawing/2014/main" id="{7B90EC5B-37D1-443D-8787-01D42432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La evaluación debe mostrar el peor grupo, las intersecciones y el costo del error.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B20B0873-D22A-4985-A4CA-4A3D4F2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7907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BE4A4A-60C2-4FD2-9A3F-A96B0264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9686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8A1D03FC-81D0-4201-98E9-18EE9D92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D9E2D3-83EB-423D-BE0F-4C2F796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4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confiabilidad exige evidencia técnica y autoridad organizacional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72DBB-21CF-4054-9AA4-51B74B1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08921324-0A37-457A-A339-E1D067D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833DE9AC-116A-4A32-925D-A8E9266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Exactitud y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Seguridad y privacidad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Equidad por cohortes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Latencia y costo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6D51E3C7-1E19-4B2E-BA0B-4F9F845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931E9AA8-A697-4D1A-88AB-AC99EF73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Gobernar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54936CE0-91CF-4F37-8388-C0330648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Asignar responsables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Definir límites de autonomía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Atender incidentes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Permitir explicación y apelación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8A65E90-5E2B-45B5-AE33-0A8CE596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1837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7267554C-93B2-46F7-9A68-52845BD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SISTEMA BAJO PRUEBA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902175-9571-434B-94DF-2F1A0B4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Evaluaremos todo el sistema BI, no solo la respuesta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241EFE-F1F9-4815-B8AB-08332E23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71D09FE4-2B7A-4817-B8F6-217DE12C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74F67029-C876-4339-9EAB-CFC60F5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AB21C547-7EAC-4400-8C44-03E1D00F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575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05F38802-886E-460A-9EE7-3611922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8D85C0ED-530E-4DE2-9503-47C4221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F2019CE3-F545-4ADE-B86B-1A22EC9F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575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node-2">
            <a:extLst xmlns:a="http://schemas.openxmlformats.org/drawingml/2006/main">
              <a:ext uri="{FF2B5EF4-FFF2-40B4-BE49-F238E27FC236}">
                <a16:creationId xmlns:a16="http://schemas.microsoft.com/office/drawing/2014/main" id="{DDA0E570-E501-4D68-B393-C762D6DA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CE998688-C4EB-4192-BB81-B956072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KPI + SQL</a:t>
            </a:r>
          </a:p>
        </p:txBody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2AC830FD-C00D-4EE2-8573-04BBCEA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575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7C2F4653-E291-4B12-BEE0-522DDD7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70A59C72-4322-46D4-BA75-03228A0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5" name="arrow-3">
            <a:extLst xmlns:a="http://schemas.openxmlformats.org/drawingml/2006/main">
              <a:ext uri="{FF2B5EF4-FFF2-40B4-BE49-F238E27FC236}">
                <a16:creationId xmlns:a16="http://schemas.microsoft.com/office/drawing/2014/main" id="{E66EF16C-F443-40CC-BD17-79D33E5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575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node-4">
            <a:extLst xmlns:a="http://schemas.openxmlformats.org/drawingml/2006/main">
              <a:ext uri="{FF2B5EF4-FFF2-40B4-BE49-F238E27FC236}">
                <a16:creationId xmlns:a16="http://schemas.microsoft.com/office/drawing/2014/main" id="{CCED82CD-8F5E-4B1A-B11E-CFC25BE8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C8206FDF-AB90-459F-B1AF-4ECB1690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arrow-4">
            <a:extLst xmlns:a="http://schemas.openxmlformats.org/drawingml/2006/main">
              <a:ext uri="{FF2B5EF4-FFF2-40B4-BE49-F238E27FC236}">
                <a16:creationId xmlns:a16="http://schemas.microsoft.com/office/drawing/2014/main" id="{DB987BD3-945D-4CA8-8961-7FE814FA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575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node-5">
            <a:extLst xmlns:a="http://schemas.openxmlformats.org/drawingml/2006/main">
              <a:ext uri="{FF2B5EF4-FFF2-40B4-BE49-F238E27FC236}">
                <a16:creationId xmlns:a16="http://schemas.microsoft.com/office/drawing/2014/main" id="{69FD1F24-A6D5-42F9-92D8-F1EA623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node-label-5">
            <a:extLst xmlns:a="http://schemas.openxmlformats.org/drawingml/2006/main">
              <a:ext uri="{FF2B5EF4-FFF2-40B4-BE49-F238E27FC236}">
                <a16:creationId xmlns:a16="http://schemas.microsoft.com/office/drawing/2014/main" id="{1F206F91-828F-42B2-A788-34F410AD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52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Insights + QA</a:t>
            </a:r>
          </a:p>
        </p:txBody>
      </p:sp>
      <p:sp>
        <p:nvSpPr>
          <p:cNvPr id="21" name="trace">
            <a:extLst xmlns:a="http://schemas.openxmlformats.org/drawingml/2006/main">
              <a:ext uri="{FF2B5EF4-FFF2-40B4-BE49-F238E27FC236}">
                <a16:creationId xmlns:a16="http://schemas.microsoft.com/office/drawing/2014/main" id="{8D4256E3-B610-465B-A077-D384BB64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paso deja trazas, evidencia, estado y tiempo.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DDBED6-4928-4381-A4CA-820C431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564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A6E48B6-C1DC-43DF-A547-A6C4778B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E30B75-DFEE-4AAB-A61C-77BBDC6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suite útil combina cuatro clases de prueba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7E3A31-6C09-4F28-BC3F-B0D1018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0-title">
            <a:extLst xmlns:a="http://schemas.openxmlformats.org/drawingml/2006/main">
              <a:ext uri="{FF2B5EF4-FFF2-40B4-BE49-F238E27FC236}">
                <a16:creationId xmlns:a16="http://schemas.microsoft.com/office/drawing/2014/main" id="{726C77ED-6782-44D0-B4A0-2E98F4B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5" name="q0-body">
            <a:extLst xmlns:a="http://schemas.openxmlformats.org/drawingml/2006/main">
              <a:ext uri="{FF2B5EF4-FFF2-40B4-BE49-F238E27FC236}">
                <a16:creationId xmlns:a16="http://schemas.microsoft.com/office/drawing/2014/main" id="{847EFE80-086B-47EF-9BC6-2BE3315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Preguntas esperadas, filtros válidos y cifras conocidas.</a:t>
            </a:r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FB114EA2-7EA3-4C2E-BAD3-B0748EA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Ambigua</a:t>
            </a:r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9A2AD1D4-A129-4769-9233-2CD6767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Lenguaje incompleto, coloquial, fuera de distribución o sin evidencia.</a:t>
            </a:r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45A148A4-16FC-4624-ADD0-B607AAF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Adversarial</a:t>
            </a:r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E7CCD3E4-8DAE-48A8-9E34-047CA97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Prompt injection, exfiltración, RAG contaminado y herramientas fuera de alcance.</a:t>
            </a:r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92E791EA-0B27-4247-BF5A-C670510B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Operativa</a:t>
            </a:r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DDB1893F-AABB-4AF3-8DE9-5E2029D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Timeouts, proveedor caído, fallo parcial, drift, loops y presupuesto.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A73CC7-660B-4E79-B951-0CAF33C5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748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F9F90A8E-90AF-46CC-9124-05D5DFC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69F594-0A07-4918-8D35-1910E20F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Reglas deterministas protegen la verdad verificable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7D0B1C-EDD1-4244-8E37-7EB268D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2B1C8BF3-F148-40CD-8C9D-013B980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Código y reglas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866B9CBE-1562-48AA-BA1E-6686770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Cifra esperada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KPI correcto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Evidencia presente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 prohibida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Límite de latencia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D4F92D73-9F3C-4F83-9629-F8C831AE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0EAD00F-E1A4-4AD5-94AC-22552D50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Juez LLM opcional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6F019EF3-40A9-4B7B-8772-6BE689D6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Estilo y utilidad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Consistencia semántica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Comparación cualitativa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Nunca es la única evidencia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CAB779-6DB3-4598-9E31-2A22D27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173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01E1982D-EF40-4F6F-81A1-B9B979B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ALUCINACIONES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AC4870-00B3-46D1-8400-7C224BD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Groundedness: la conclusión debe estar respaldada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2BE9C8-8785-40FB-B5CB-A44F1EC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B57EC642-359A-4A34-82F0-100DF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Una respuesta puede sonar correcta y aun así fallar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0843A392-6CC6-4B76-BCCB-3FBA3D11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Cifra inventada o mezclada entre periodos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Fuente inexistente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Cita real que no soporta la afirmación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B943247A-A531-42B6-9897-B6F2E17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Causalidad inferida desde datos descriptivos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Omisión de incertidumbre o datos faltantes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Respuesta correcta por casualidad, sin proceso trazable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CFB74A-88AD-466D-BA83-73EA1DE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2580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38EE7678-C64C-4D5B-A084-5E868E00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A70F84-FF45-4618-8A2A-439B1BA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injection convierte datos en órdenes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23FE78-32EA-4BB7-9E18-1D4E873C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945AAED7-F88F-421D-9A7D-47849B8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Ataques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D3F4F2D3-4757-40DB-A7D2-776DE3E5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Directo: «ignora las políticas»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Indirecto: documento con instrucciones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Exfiltración por URL o logs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Tool call fuera de alcance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8D36F2E3-F04A-43F2-866E-AF6FA80F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69A86DBB-10FE-40CC-9450-474D825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AB4D8560-839C-4FFA-81F5-893B2891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Separar datos e instrucciones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Allowlist de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Mínimo privilegio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Validación y aprobación humana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5ED1E8-B569-4A8D-9949-4CAFC4E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4888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7926034C-EC93-4522-ABF8-C483E5A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SESGOS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0DAC02-9804-4043-847A-AC6E8919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sesgo no vive solamente en el modelo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A33374-5A9E-4EEE-80EF-13B8262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F1DE5724-43A3-40F1-B71A-16DFF47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 → diseño → modelo → interacción → operación</a:t>
            </a:r>
          </a:p>
        </p:txBody>
      </p:sp>
      <p:sp>
        <p:nvSpPr>
          <p:cNvPr id="5" name="detail">
            <a:extLst xmlns:a="http://schemas.openxmlformats.org/drawingml/2006/main">
              <a:ext uri="{FF2B5EF4-FFF2-40B4-BE49-F238E27FC236}">
                <a16:creationId xmlns:a16="http://schemas.microsoft.com/office/drawing/2014/main" id="{80CD4417-4DC7-42F3-90CC-51E492C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Cada etapa introduce decisiones sobre quién aparece, qué se optimiza y quién puede corregir.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881963E2-EDE0-446E-96DE-9BB3F27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7907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3CC4DB-9909-45DC-BC6C-C79A112B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22347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6F519AC-B14B-44B2-AAA7-67A2E319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8AA9AC-4020-44B1-A74E-BD4FE91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 datos pueden excluir antes del aprendizaje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9DDA80-9BEA-4FFD-B804-BA2FF8E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D6EF1C96-CF80-465E-A10F-DF0B54F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Casos de borde en adquisición y preparación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0DDC2E9F-5F0F-4D7B-80C6-A772D8B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Subrepresentación regional o por canal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Historia que reproduce decisiones discriminatorias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Etiquetas inconsistentes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Variables proxy para atributos sensibles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31DEA889-EE6A-402D-A7A3-66958FD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Faltantes no aleatorios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Errores de medición desiguales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Datos obsoletos o cambio geográfico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Finalidad incompatible o procedencia desconocida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409E3B-077B-4CE4-AE1D-C0CBB83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8111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E5FCA8B-B03D-47F6-8A5A-82649C89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EQUIDAD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BF2769-327E-4030-BA1B-20C3B4C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intersección revela daños que cada promedio oculta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31412D-7E61-4DF2-864D-7C91AAD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8097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22105e0afd4969"/>
          </a:graphicData>
        </a:graphic>
      </p:graphicFrame>
      <p:sp>
        <p:nvSpPr>
          <p:cNvPr id="5" name="meaning">
            <a:extLst xmlns:a="http://schemas.openxmlformats.org/drawingml/2006/main">
              <a:ext uri="{FF2B5EF4-FFF2-40B4-BE49-F238E27FC236}">
                <a16:creationId xmlns:a16="http://schemas.microsoft.com/office/drawing/2014/main" id="{E5C79ECC-514B-4AD6-A423-E1E1930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brecha entre mejor y peor cohorte es una señal de investigación, no una explicación causal.</a:t>
            </a:r>
          </a:p>
        </p:txBody>
      </p:sp>
      <p:sp>
        <p:nvSpPr>
          <p:cNvPr id="6" name="privacy-note">
            <a:extLst xmlns:a="http://schemas.openxmlformats.org/drawingml/2006/main">
              <a:ext uri="{FF2B5EF4-FFF2-40B4-BE49-F238E27FC236}">
                <a16:creationId xmlns:a16="http://schemas.microsoft.com/office/drawing/2014/main" id="{35D302DB-2DC2-4246-975E-5340D419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148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Evite grupos tan pequeños que permitan reidentificar.</a:t>
            </a:r>
          </a:p>
        </p:txBody>
      </p:sp>
      <p:sp>
        <p:nvSpPr>
          <p:cNvPr id="7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6F174E6-2D48-45A3-B240-3C7D8C5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Datos ilustrativos del laboratorio; no corresponden a población real.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374F92-F649-4527-9CBA-477FD16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1732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78D96BB1-BB44-4BD5-BDDA-15DA8679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RECOMENDACIÓN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215E2D-CC60-47A8-921E-9CD6FDD8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ranking puede amplificar su propia evidencia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62FF79-E3B1-46E4-B2D6-42519B11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0-title">
            <a:extLst xmlns:a="http://schemas.openxmlformats.org/drawingml/2006/main">
              <a:ext uri="{FF2B5EF4-FFF2-40B4-BE49-F238E27FC236}">
                <a16:creationId xmlns:a16="http://schemas.microsoft.com/office/drawing/2014/main" id="{DFDAD0C1-474A-430D-9760-E6B4568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Cold start</a:t>
            </a:r>
          </a:p>
        </p:txBody>
      </p:sp>
      <p:sp>
        <p:nvSpPr>
          <p:cNvPr id="5" name="q0-body">
            <a:extLst xmlns:a="http://schemas.openxmlformats.org/drawingml/2006/main">
              <a:ext uri="{FF2B5EF4-FFF2-40B4-BE49-F238E27FC236}">
                <a16:creationId xmlns:a16="http://schemas.microsoft.com/office/drawing/2014/main" id="{2C9B5A85-A485-4221-96AA-19923DB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Nuevas personas o acciones carecen de historia.</a:t>
            </a:r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F8601771-6BBC-467E-961E-D6C215A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Popularidad</a:t>
            </a:r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AAF6F049-31D7-43C3-B50F-693B6CDA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Lo más expuesto recibe más interacción y vuelve a ganar.</a:t>
            </a:r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5425745E-F8A2-46AB-8E26-88D1BA5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Elegibilidad</a:t>
            </a:r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0494A53A-709C-4C8D-9F79-17D6FF4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Una regla aparentemente neutra puede excluir indirectamente.</a:t>
            </a:r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E344673F-74A5-440B-8DBF-D81C11C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 único</a:t>
            </a:r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95F9FC96-F464-487F-8B97-6F0CEB7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Maximizar ingreso puede aumentar presión, costo o daño.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767DFF-350E-453F-BBBD-AD43CF4F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2779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24F8B9CC-D450-4297-B2DE-167C9579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INTERACCIÓN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FA15ED-09E2-4186-BB5C-F634CDB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7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lenguaje y la accesibilidad también producen desigualdad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74AE4D-0C00-461A-8639-6D7774A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D148288D-4067-4EEA-8C7F-238F5B6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Probar más que el español formal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4DA8178D-77DD-4CE9-9DE9-2051460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Dialectos y regionalismos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Errores ortográficos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Lenguaje coloquial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Terminología técnica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451D1A24-1175-45BA-ACAC-FDBC70A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Idiomas minoritarios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Lectores de pantalla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Discapacidad cognitiva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Diferencias culturales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F0D832-5210-4DF8-A512-30A69DE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16837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5D1538D7-4776-419E-9125-C651B0ED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MULTIAGENTE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641038-FBEF-43B6-A4EA-3C95D1CC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9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 sistema multiagente agrega fallos de coordinación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92570FA-4FB2-45BB-AB4B-D1C1999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3634804-4011-4AB1-A837-185F3CC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Casos que no aparecen en una llamada aislada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78FE7CB7-FC8B-45E4-95C8-1012309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Un agente contamina el contexto de otros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El fan-in pierde evidencia o desacuerdos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Contratos interpretados de forma distinta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Reviewer inclinado a aprobar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6E2FF49D-ADF9-49AF-964C-30B5A4E5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Loop sin límite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Fallo parcial presentado como 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Memoria cruzada entre usuarios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Prompts y esquemas en versiones incompatibles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6F34CE-BBD5-4DD7-BF23-6EE57E1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96072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A687BF3B-4A5E-48C8-AFC3-A2B6E13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PERSONAS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D348D6-8771-401C-AA74-5485508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supervisión humana falla cuando solo existe en el diagrama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5BA9CBB-C3FD-4E21-A566-B84F0A9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7D34B3FD-7929-435D-90C0-105A0C7D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Supervisión simbólica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6B425C21-6E89-45C3-BD44-6DD62A1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Aprobación automática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Responsable sin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 tiempo ni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 canal de apelación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BF1B0E66-1A83-4C26-8D0F-4D7F16AC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D858FD9-9519-404C-8C51-5EE31D9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6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8636"/>
                </a:solidFill>
                <a:latin typeface="Arial"/>
                <a:ea typeface="Arial"/>
                <a:cs typeface="Arial"/>
              </a:rPr>
              <a:t>Supervisión efectiva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6372CDBA-731B-4E56-9A7F-0CD5016B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Criterios de escalamiento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Autoridad para detener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Información suficiente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Corrección y apelación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48DD8D-BF28-4FA8-93DD-9EF24358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06457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DD8D3E18-B171-416D-AF84-6AF87E04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4B474E-14F9-42C1-BBD0-72531AB7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8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Drift, fallbacks y costos pueden repartir la calidad de forma desigual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0E6574-C90E-43B3-8CE4-9C18308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11E8CC80-1852-4C29-8A74-A755507C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 operación también debe evaluarse por población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3506E0E0-A358-4838-934A-6305C4BA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Cambio de distribución sin alerta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Timeout que activa respuesta menos segura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Logs con PII o retención excesiva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Trazas incompletas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04D0CDAB-1B07-442F-9C45-0F2C11B7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Loop de agentes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Presupuesto que penaliza consultas complejas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Dependencia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Actualización sin pruebas de regresión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D42E86-7849-4C10-A5A9-3B0DE78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8824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C2B9080-35DF-4313-BC6C-EC67467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A787EB-5932-4013-8C78-5C036E8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 control completo previene, detecta y corrige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90B28A-5E86-4FEE-B704-35C0A4D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0-title">
            <a:extLst xmlns:a="http://schemas.openxmlformats.org/drawingml/2006/main">
              <a:ext uri="{FF2B5EF4-FFF2-40B4-BE49-F238E27FC236}">
                <a16:creationId xmlns:a16="http://schemas.microsoft.com/office/drawing/2014/main" id="{0C16DA7A-A251-4D38-B1FD-F2880C0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Preventivo</a:t>
            </a:r>
          </a:p>
        </p:txBody>
      </p:sp>
      <p:sp>
        <p:nvSpPr>
          <p:cNvPr id="5" name="q0-body">
            <a:extLst xmlns:a="http://schemas.openxmlformats.org/drawingml/2006/main">
              <a:ext uri="{FF2B5EF4-FFF2-40B4-BE49-F238E27FC236}">
                <a16:creationId xmlns:a16="http://schemas.microsoft.com/office/drawing/2014/main" id="{C63AE338-C27C-4C3B-8F04-13E02CAE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Evita o reduce la probabilidad: minimización, allowlists, límites y aprobación.</a:t>
            </a:r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95AAD537-9AA4-42A8-A492-F3D6534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Detectivo</a:t>
            </a:r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0B6351A7-87F8-4F39-8A86-87EC9D94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Descubre la desviación: cohortes, trazas, alertas, red team y auditoría.</a:t>
            </a:r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67289527-38FE-470A-8DFE-6EC1295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Correctivo</a:t>
            </a:r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605392AD-6207-4E69-89CA-69D88E53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Contiene y repara: kill switch, reversión, comunicación y reevaluación.</a:t>
            </a:r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DE8DEF2E-26F5-49D8-8600-DEDEB647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8AD0BF83-288C-4534-ABCE-AB8DD293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Demuestra que el control existe: logs, reportes, sign-off y RCA.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C7D0EC-E43A-4F98-A07B-0015685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29069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FB4AB8D3-843F-45B1-BF0F-89DC506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CICLO DE VIDA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20B3EA-52E2-4069-AE7B-92AB285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etapa necesita controles y responsables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6C02D2-0EB2-44E7-AB93-9C12710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FB254224-FC1F-4739-8CFE-C4606F6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CB402B61-9310-497D-A94F-2533AB9B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6" name="stage-owner-0">
            <a:extLst xmlns:a="http://schemas.openxmlformats.org/drawingml/2006/main">
              <a:ext uri="{FF2B5EF4-FFF2-40B4-BE49-F238E27FC236}">
                <a16:creationId xmlns:a16="http://schemas.microsoft.com/office/drawing/2014/main" id="{96C2DD44-AC62-4028-992F-D7066D9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Data steward / DPO</a:t>
            </a:r>
          </a:p>
        </p:txBody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D4057555-A8E7-4524-A1CF-B38AF69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AB4DA795-8396-4ABA-8A00-7E6AD21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9" name="stage-owner-1">
            <a:extLst xmlns:a="http://schemas.openxmlformats.org/drawingml/2006/main">
              <a:ext uri="{FF2B5EF4-FFF2-40B4-BE49-F238E27FC236}">
                <a16:creationId xmlns:a16="http://schemas.microsoft.com/office/drawing/2014/main" id="{609FD922-C6C0-407F-BF31-1FC7D865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Product owner / comité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9E8B4740-BFE4-4098-9B79-029CB2F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02D2AD7E-E0FE-4129-B67F-45DD3E9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" name="stage-owner-2">
            <a:extLst xmlns:a="http://schemas.openxmlformats.org/drawingml/2006/main">
              <a:ext uri="{FF2B5EF4-FFF2-40B4-BE49-F238E27FC236}">
                <a16:creationId xmlns:a16="http://schemas.microsoft.com/office/drawing/2014/main" id="{8CFEE977-525A-4842-95C6-9889A79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Ingeniería / seguridad</a:t>
            </a:r>
          </a:p>
        </p:txBody>
      </p:sp>
      <p:sp>
        <p:nvSpPr>
          <p:cNvPr id="13" name="stage-3">
            <a:extLst xmlns:a="http://schemas.openxmlformats.org/drawingml/2006/main">
              <a:ext uri="{FF2B5EF4-FFF2-40B4-BE49-F238E27FC236}">
                <a16:creationId xmlns:a16="http://schemas.microsoft.com/office/drawing/2014/main" id="{DD111B99-A528-487F-973A-4C06B315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B4721455-BAAD-4F39-82E1-916C4B49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0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Preproducción</a:t>
            </a:r>
          </a:p>
        </p:txBody>
      </p:sp>
      <p:sp>
        <p:nvSpPr>
          <p:cNvPr id="15" name="stage-owner-3">
            <a:extLst xmlns:a="http://schemas.openxmlformats.org/drawingml/2006/main">
              <a:ext uri="{FF2B5EF4-FFF2-40B4-BE49-F238E27FC236}">
                <a16:creationId xmlns:a16="http://schemas.microsoft.com/office/drawing/2014/main" id="{9B58700B-24A5-49D1-899C-6397EE8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QA / dominio</a:t>
            </a:r>
          </a:p>
        </p:txBody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783210D7-B94F-4AB1-ABFE-2359DAAB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8B468731-1649-416B-B50E-8A0AE819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8" name="stage-owner-4">
            <a:extLst xmlns:a="http://schemas.openxmlformats.org/drawingml/2006/main">
              <a:ext uri="{FF2B5EF4-FFF2-40B4-BE49-F238E27FC236}">
                <a16:creationId xmlns:a16="http://schemas.microsoft.com/office/drawing/2014/main" id="{21B18F9F-8A80-4718-A8BA-749A6A1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SRE / proceso</a:t>
            </a:r>
          </a:p>
        </p:txBody>
      </p:sp>
      <p:sp>
        <p:nvSpPr>
          <p:cNvPr id="19" name="stage-5">
            <a:extLst xmlns:a="http://schemas.openxmlformats.org/drawingml/2006/main">
              <a:ext uri="{FF2B5EF4-FFF2-40B4-BE49-F238E27FC236}">
                <a16:creationId xmlns:a16="http://schemas.microsoft.com/office/drawing/2014/main" id="{5BE3F52E-CD7D-4A5E-8B66-6A12E057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55F14B9D-9325-4EC0-B584-5E61F9C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670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Incidente</a:t>
            </a:r>
          </a:p>
        </p:txBody>
      </p:sp>
      <p:sp>
        <p:nvSpPr>
          <p:cNvPr id="21" name="stage-owner-5">
            <a:extLst xmlns:a="http://schemas.openxmlformats.org/drawingml/2006/main">
              <a:ext uri="{FF2B5EF4-FFF2-40B4-BE49-F238E27FC236}">
                <a16:creationId xmlns:a16="http://schemas.microsoft.com/office/drawing/2014/main" id="{A4EFB31D-FCD8-49F1-A97E-54B9DBB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9087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Comité / DPO / seguridad</a:t>
            </a:r>
          </a:p>
        </p:txBody>
      </p:sp>
      <p:sp>
        <p:nvSpPr>
          <p:cNvPr id="22" name="stage-message">
            <a:extLst xmlns:a="http://schemas.openxmlformats.org/drawingml/2006/main">
              <a:ext uri="{FF2B5EF4-FFF2-40B4-BE49-F238E27FC236}">
                <a16:creationId xmlns:a16="http://schemas.microsoft.com/office/drawing/2014/main" id="{41EC88BE-5051-476F-969D-F83CBD2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riesgo debe señalar: control, etapa, responsable, evidencia, riesgo residual y fecha de revisión.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EF8461-D7F0-44EF-A92A-21FB6E3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92961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9997F854-C092-4EE4-BEFA-4CF664EB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RESPONSABILIDAD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CBBA66-6028-433B-87AE-401D31C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Tres líneas evitan que un equipo se audite solo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1AC982-181C-4233-B83D-F87F00DD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BDCF5D5B-96EC-4B90-9BAC-4AC77B9E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Primera y segunda línea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273FA0F1-DB72-45A9-9E39-7240B45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Producto y operación gestionan el riesgo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Seguridad, privacidad, legal y comité definen controles y supervisan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0062B4E8-8664-4336-A8CD-99DCF9C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9E151BD-EBFE-4DFB-AC7F-130E0EB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Tercera línea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FD10D111-E9F2-4BA1-A613-F282D1FD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Auditoría interna evalúa diseño y efectividad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dirección acepta riesgo residual material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F60B54-95F3-4041-911F-1068A88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521443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67FC3C77-AADA-479C-944D-474BFCA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MARCO COLOMBIANO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05B9FF-74FC-42EB-A632-E8717BA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Colombia combina normas, política pública y guías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6352E6-8AB1-4D72-B04A-9D1AB0F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E6A93312-2D02-4E41-88FD-7268DD9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Instrumento</a:t>
            </a:r>
          </a:p>
        </p:txBody>
      </p:sp>
      <p:sp>
        <p:nvSpPr>
          <p:cNvPr id="5" name="header-1">
            <a:extLst xmlns:a="http://schemas.openxmlformats.org/drawingml/2006/main">
              <a:ext uri="{FF2B5EF4-FFF2-40B4-BE49-F238E27FC236}">
                <a16:creationId xmlns:a16="http://schemas.microsoft.com/office/drawing/2014/main" id="{EAA421B8-48BA-4356-B23F-2B4C44C0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Naturaleza</a:t>
            </a:r>
          </a:p>
        </p:txBody>
      </p:sp>
      <p:sp>
        <p:nvSpPr>
          <p:cNvPr id="6" name="header-2">
            <a:extLst xmlns:a="http://schemas.openxmlformats.org/drawingml/2006/main">
              <a:ext uri="{FF2B5EF4-FFF2-40B4-BE49-F238E27FC236}">
                <a16:creationId xmlns:a16="http://schemas.microsoft.com/office/drawing/2014/main" id="{AA3B0E21-C1C7-4883-96B1-357EAA0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Foco</a:t>
            </a:r>
          </a:p>
        </p:txBody>
      </p:sp>
      <p:sp>
        <p:nvSpPr>
          <p:cNvPr id="7" name="row-bg-0">
            <a:extLst xmlns:a="http://schemas.openxmlformats.org/drawingml/2006/main">
              <a:ext uri="{FF2B5EF4-FFF2-40B4-BE49-F238E27FC236}">
                <a16:creationId xmlns:a16="http://schemas.microsoft.com/office/drawing/2014/main" id="{ADEEC82F-004E-4CA3-867E-74C6DF2B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ell-0-0">
            <a:extLst xmlns:a="http://schemas.openxmlformats.org/drawingml/2006/main">
              <a:ext uri="{FF2B5EF4-FFF2-40B4-BE49-F238E27FC236}">
                <a16:creationId xmlns:a16="http://schemas.microsoft.com/office/drawing/2014/main" id="{9C864567-7ADB-4F32-B6BB-82AF8141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Ley 1581 de 2012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E6AD6414-ED9A-43B5-9269-CB02DCA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Ley estatutaria</a:t>
            </a:r>
          </a:p>
        </p:txBody>
      </p:sp>
      <p:sp>
        <p:nvSpPr>
          <p:cNvPr id="10" name="cell-0-2">
            <a:extLst xmlns:a="http://schemas.openxmlformats.org/drawingml/2006/main">
              <a:ext uri="{FF2B5EF4-FFF2-40B4-BE49-F238E27FC236}">
                <a16:creationId xmlns:a16="http://schemas.microsoft.com/office/drawing/2014/main" id="{D0ECB3E8-672A-4491-A15B-541C19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 personales</a:t>
            </a:r>
          </a:p>
        </p:txBody>
      </p:sp>
      <p:sp>
        <p:nvSpPr>
          <p:cNvPr id="11" name="row-bg-1">
            <a:extLst xmlns:a="http://schemas.openxmlformats.org/drawingml/2006/main">
              <a:ext uri="{FF2B5EF4-FFF2-40B4-BE49-F238E27FC236}">
                <a16:creationId xmlns:a16="http://schemas.microsoft.com/office/drawing/2014/main" id="{F42ACA2C-826E-45CD-B1CC-2E2E61B7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ell-1-0">
            <a:extLst xmlns:a="http://schemas.openxmlformats.org/drawingml/2006/main">
              <a:ext uri="{FF2B5EF4-FFF2-40B4-BE49-F238E27FC236}">
                <a16:creationId xmlns:a16="http://schemas.microsoft.com/office/drawing/2014/main" id="{3DE96268-8F73-4E7F-879E-FBE0D08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Circular SIC 002/2024</a:t>
            </a:r>
          </a:p>
        </p:txBody>
      </p:sp>
      <p:sp>
        <p:nvSpPr>
          <p:cNvPr id="13" name="cell-1-1">
            <a:extLst xmlns:a="http://schemas.openxmlformats.org/drawingml/2006/main">
              <a:ext uri="{FF2B5EF4-FFF2-40B4-BE49-F238E27FC236}">
                <a16:creationId xmlns:a16="http://schemas.microsoft.com/office/drawing/2014/main" id="{874CA7AC-AA3A-4690-ABB8-FDA4D62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Lineamiento de autoridad</a:t>
            </a:r>
          </a:p>
        </p:txBody>
      </p:sp>
      <p:sp>
        <p:nvSpPr>
          <p:cNvPr id="14" name="cell-1-2">
            <a:extLst xmlns:a="http://schemas.openxmlformats.org/drawingml/2006/main">
              <a:ext uri="{FF2B5EF4-FFF2-40B4-BE49-F238E27FC236}">
                <a16:creationId xmlns:a16="http://schemas.microsoft.com/office/drawing/2014/main" id="{F7767236-CD9F-4151-9293-326036B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Datos en sistemas IA</a:t>
            </a:r>
          </a:p>
        </p:txBody>
      </p:sp>
      <p:sp>
        <p:nvSpPr>
          <p:cNvPr id="15" name="row-bg-2">
            <a:extLst xmlns:a="http://schemas.openxmlformats.org/drawingml/2006/main">
              <a:ext uri="{FF2B5EF4-FFF2-40B4-BE49-F238E27FC236}">
                <a16:creationId xmlns:a16="http://schemas.microsoft.com/office/drawing/2014/main" id="{7BD5935A-A058-4CDD-930B-6FE2F69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480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ll-2-0">
            <a:extLst xmlns:a="http://schemas.openxmlformats.org/drawingml/2006/main">
              <a:ext uri="{FF2B5EF4-FFF2-40B4-BE49-F238E27FC236}">
                <a16:creationId xmlns:a16="http://schemas.microsoft.com/office/drawing/2014/main" id="{0605CAF7-AA12-494F-8CEF-4180AEBB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CONPES 4144 de 2025</a:t>
            </a:r>
          </a:p>
        </p:txBody>
      </p:sp>
      <p:sp>
        <p:nvSpPr>
          <p:cNvPr id="17" name="cell-2-1">
            <a:extLst xmlns:a="http://schemas.openxmlformats.org/drawingml/2006/main">
              <a:ext uri="{FF2B5EF4-FFF2-40B4-BE49-F238E27FC236}">
                <a16:creationId xmlns:a16="http://schemas.microsoft.com/office/drawing/2014/main" id="{97659A42-7567-4DE5-9EB0-5E62130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Política pública</a:t>
            </a:r>
          </a:p>
        </p:txBody>
      </p:sp>
      <p:sp>
        <p:nvSpPr>
          <p:cNvPr id="18" name="cell-2-2">
            <a:extLst xmlns:a="http://schemas.openxmlformats.org/drawingml/2006/main">
              <a:ext uri="{FF2B5EF4-FFF2-40B4-BE49-F238E27FC236}">
                <a16:creationId xmlns:a16="http://schemas.microsoft.com/office/drawing/2014/main" id="{55AF7E9A-7970-41BD-9C57-1E87C869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Política nacional de IA</a:t>
            </a:r>
          </a:p>
        </p:txBody>
      </p:sp>
      <p:sp>
        <p:nvSpPr>
          <p:cNvPr id="19" name="row-bg-3">
            <a:extLst xmlns:a="http://schemas.openxmlformats.org/drawingml/2006/main">
              <a:ext uri="{FF2B5EF4-FFF2-40B4-BE49-F238E27FC236}">
                <a16:creationId xmlns:a16="http://schemas.microsoft.com/office/drawing/2014/main" id="{6E5B3D59-6708-4D59-8F46-97D70FB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ell-3-0">
            <a:extLst xmlns:a="http://schemas.openxmlformats.org/drawingml/2006/main">
              <a:ext uri="{FF2B5EF4-FFF2-40B4-BE49-F238E27FC236}">
                <a16:creationId xmlns:a16="http://schemas.microsoft.com/office/drawing/2014/main" id="{2763C47C-789D-4417-AF5C-3997FBD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Guía Ética 2026</a:t>
            </a:r>
          </a:p>
        </p:txBody>
      </p:sp>
      <p:sp>
        <p:nvSpPr>
          <p:cNvPr id="21" name="cell-3-1">
            <a:extLst xmlns:a="http://schemas.openxmlformats.org/drawingml/2006/main">
              <a:ext uri="{FF2B5EF4-FFF2-40B4-BE49-F238E27FC236}">
                <a16:creationId xmlns:a16="http://schemas.microsoft.com/office/drawing/2014/main" id="{F42369ED-FF85-45E0-9604-DDE1326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Guía sector público</a:t>
            </a:r>
          </a:p>
        </p:txBody>
      </p:sp>
      <p:sp>
        <p:nvSpPr>
          <p:cNvPr id="22" name="cell-3-2">
            <a:extLst xmlns:a="http://schemas.openxmlformats.org/drawingml/2006/main">
              <a:ext uri="{FF2B5EF4-FFF2-40B4-BE49-F238E27FC236}">
                <a16:creationId xmlns:a16="http://schemas.microsoft.com/office/drawing/2014/main" id="{1F32017A-4C8D-448B-9122-CEDAC191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Principios y salvaguardas</a:t>
            </a:r>
          </a:p>
        </p:txBody>
      </p:sp>
      <p:sp>
        <p:nvSpPr>
          <p:cNvPr id="2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908648D-8A65-49EE-8C9E-916873D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Fuentes oficiales: Función Pública, SIC, DNP y MinTIC.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50F37D-B187-40B0-B2BB-A38418B1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748872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31F3A6EC-7E1D-4ECE-A227-8E30AFB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LEY VIGENTE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75D722-993B-4E96-AAD3-D71297D3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6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Ley 1581 obliga a gobernar el tratamiento de datos personales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DF6886-8E2D-4BA9-9721-91CE23EF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F1D7F9E2-5BFE-4367-835E-CF2E6FB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Derechos y principios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BD9E3D50-ACAC-4C4B-8A19-60E1EC0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Conocer, actualizar y rectificar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Finalidad y libertad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Seguridad y confidencialidad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Protección reforzada de datos sensibles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F4A573E8-A8BB-4FDF-BBD5-CF5488A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653C9A6-EC2D-40AF-9B2A-8F2BC4F2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Aplicación al sistema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A2EDC445-C3E3-4398-AF40-720B813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Inventario y base jurídica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Minimización y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Retención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Canal de corrección y reclamo</a:t>
            </a:r>
          </a:p>
        </p:txBody>
      </p:sp>
      <p:sp>
        <p:nvSpPr>
          <p:cNvPr id="9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467D61B5-4788-4BF4-AAA2-0F180CA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Fuente: Función Pública · Ley Estatutaria 1581 de 2012.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F03031-8377-40ED-BB7F-7CFF134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929061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D934F895-552D-4C56-8BC9-D52449D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CIRCULAR DE AUTORIDAD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F39450-68FE-47CC-929D-E3E5DBED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SIC exige responsabilidad demostrada en 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C61D7E-F2C2-4156-900E-4F70892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FD2F900B-2BB8-408D-A59C-F5567D0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Preguntas de control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CA44B9F3-B8AE-4688-9FD0-EB404774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¿Existe finalidad legítima?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¿Se minimizan datos?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¿Se evalúan riesgos?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¿Se puede demostrar cumplimiento?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A6597802-180E-4C9B-B95D-80A8741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C52C9C5-8A45-4568-BE0F-9D33A0B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Evidencias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B7B84A1C-7566-4752-BC33-E792674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Evaluación de impacto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Políticas y contratos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Pruebas y registros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Medidas de privacidad y seguridad</a:t>
            </a:r>
          </a:p>
        </p:txBody>
      </p:sp>
      <p:sp>
        <p:nvSpPr>
          <p:cNvPr id="9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DF9A4FF-EE3F-47DB-87C1-EBD56B8A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Fuente: SIC · Circular Externa 002 del 21 de agosto de 2024.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A41DE3-F46F-4F6E-93C3-1C37EF24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495821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8908F922-7B78-4BFD-8C6E-508289B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POLÍTICA NACIONAL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6BEEB5-582A-43CB-B430-DD2D5C97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2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CONPES 4144 orienta la política nacional; no sustituye una ley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DD7AB4-10EC-475A-A194-5B41E12B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6E88FA7E-D101-4283-9C4E-92B9C8B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Política pública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831BD532-75F3-4EC9-A3CA-1FC435BC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Fortalecimiento institucional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Capacidades y talento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Adopción responsable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Gestión de riesgos y confianza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B9BE7F6A-6C51-4D83-ADBE-D797D6E1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83EB86B8-3E1D-4CA6-AA32-D0D6967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Uso en el proyecto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0D93938F-AF25-4134-BE3E-4959FA5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Contextualizar el caso colombiano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Alinear capacidades y controles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afirmar certificación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convertir política en permiso automático</a:t>
            </a:r>
          </a:p>
        </p:txBody>
      </p:sp>
      <p:sp>
        <p:nvSpPr>
          <p:cNvPr id="9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E9136E2-71AC-4D77-B96B-F8A25DB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Fuente: DNP · Documento CONPES 4144 · 14 de febrero de 2025.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F5FE79-E86A-4142-A325-0F1F1C24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97257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1E2E42C-4BA1-4AE3-83A8-FD1C53C3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GUÍA SECTORIAL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CE512A-ED6C-4C32-9E20-532E8D7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Guía Ética 2026 lleva principios a la práctica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7DF3A4-A406-40AA-82AC-0789BB71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66AC7F0F-518E-4E5D-8464-E7C2AAB0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Principios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4135D16F-8AD1-4552-8244-B3FC62F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Bien común y derechos humanos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Transparencia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discriminación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B2CC4046-E8E6-42CC-B475-CC8AA1D9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668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D7B9261-15D8-4F96-AEBC-5288257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Práctica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940C47D0-C895-46B0-90CD-DDCB160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24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Habilitadores y salvaguardas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Supervisión humana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Trazabilidad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Caso ilustrativo de aplicación</a:t>
            </a:r>
          </a:p>
        </p:txBody>
      </p:sp>
      <p:sp>
        <p:nvSpPr>
          <p:cNvPr id="9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F3161100-6C72-45D2-9D82-080AFDA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Fuente: MinTIC · Guía Ética para entidades públicas · actualización 7 ene. 2026.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15C509-E100-4E2D-941F-BF00C659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749557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AAF9C25B-9C36-4950-B13D-BF66E664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REFERENTES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A82E-8515-42C0-9AE5-97448F3C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NIST, ISO y UE cumplen funciones distintas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9BC363-9976-4DC2-8BA5-146F3AE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0-title">
            <a:extLst xmlns:a="http://schemas.openxmlformats.org/drawingml/2006/main">
              <a:ext uri="{FF2B5EF4-FFF2-40B4-BE49-F238E27FC236}">
                <a16:creationId xmlns:a16="http://schemas.microsoft.com/office/drawing/2014/main" id="{6C9BBDEA-604F-46B5-A4FA-8B38A76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NIST AI RMF</a:t>
            </a:r>
          </a:p>
        </p:txBody>
      </p:sp>
      <p:sp>
        <p:nvSpPr>
          <p:cNvPr id="5" name="q0-body">
            <a:extLst xmlns:a="http://schemas.openxmlformats.org/drawingml/2006/main">
              <a:ext uri="{FF2B5EF4-FFF2-40B4-BE49-F238E27FC236}">
                <a16:creationId xmlns:a16="http://schemas.microsoft.com/office/drawing/2014/main" id="{8315D159-9EC8-4150-B218-B49E945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Marco voluntario: Govern, Map, Measure y Manage.</a:t>
            </a:r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2BBFA7B2-2EFA-48B5-BC47-089C73F2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NIST GenAI Profile</a:t>
            </a:r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E646C76D-B6D2-43FD-922B-45B6D39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Riesgos y acciones específicas para IA generativa.</a:t>
            </a:r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4314038B-D553-4EC0-BCDC-0067D8D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ISO/IEC 42001</a:t>
            </a:r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2C171AAD-91C1-49B8-A3CD-D1A87931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Sistema de gestión de IA con requisitos organizacionales.</a:t>
            </a:r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FF8EA30A-F0EB-4FB4-9497-88A4D63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 Act UE</a:t>
            </a:r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CF1442B1-C2AA-4A8C-80C6-41B13F82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Regulación extranjera basada en riesgo y aplicación gradual.</a:t>
            </a:r>
          </a:p>
        </p:txBody>
      </p:sp>
      <p:sp>
        <p:nvSpPr>
          <p:cNvPr id="1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2506BC2-6679-4B36-B309-2E039F71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Fuentes: NIST · ISO · Comisión Europea. Ver notas.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1EB36B-9CBC-48E6-A9C6-51C83B0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719576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52514C26-B5B7-4B65-BEF4-7CB66A1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LABORATORIO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874BF8-2248-47CD-8503-8D160F81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7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dashboard convierte riesgos en evidencia inspeccionable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7495AD-0374-4A05-93D3-C5630C8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num-0">
            <a:extLst xmlns:a="http://schemas.openxmlformats.org/drawingml/2006/main">
              <a:ext uri="{FF2B5EF4-FFF2-40B4-BE49-F238E27FC236}">
                <a16:creationId xmlns:a16="http://schemas.microsoft.com/office/drawing/2014/main" id="{9D791304-5FB2-4C51-8BC4-03173173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9C69B53-7DE3-45EB-9B30-F721E55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Elegir casos</a:t>
            </a:r>
          </a:p>
        </p:txBody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3F13FC2D-8C1D-42F7-A695-E5714BC1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B346712-9919-41BE-B2C2-3241E7C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Ejecutar suite</a:t>
            </a:r>
          </a:p>
        </p:txBody>
      </p:sp>
      <p:sp>
        <p:nvSpPr>
          <p:cNvPr id="8" name="step-num-2">
            <a:extLst xmlns:a="http://schemas.openxmlformats.org/drawingml/2006/main">
              <a:ext uri="{FF2B5EF4-FFF2-40B4-BE49-F238E27FC236}">
                <a16:creationId xmlns:a16="http://schemas.microsoft.com/office/drawing/2014/main" id="{A6D03798-F7C1-42C6-A950-1AD618B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4056072-A360-4B3E-9A00-A040B872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Comparar cohortes</a:t>
            </a:r>
          </a:p>
        </p:txBody>
      </p:sp>
      <p:sp>
        <p:nvSpPr>
          <p:cNvPr id="10" name="step-num-3">
            <a:extLst xmlns:a="http://schemas.openxmlformats.org/drawingml/2006/main">
              <a:ext uri="{FF2B5EF4-FFF2-40B4-BE49-F238E27FC236}">
                <a16:creationId xmlns:a16="http://schemas.microsoft.com/office/drawing/2014/main" id="{A10C3862-7D61-4922-9804-D975C45F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C1DE82B-CDF4-44F4-B6D1-397BC22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Inspeccionar trazas</a:t>
            </a:r>
          </a:p>
        </p:txBody>
      </p:sp>
      <p:sp>
        <p:nvSpPr>
          <p:cNvPr id="12" name="step-num-4">
            <a:extLst xmlns:a="http://schemas.openxmlformats.org/drawingml/2006/main">
              <a:ext uri="{FF2B5EF4-FFF2-40B4-BE49-F238E27FC236}">
                <a16:creationId xmlns:a16="http://schemas.microsoft.com/office/drawing/2014/main" id="{D9D07F4B-ACC0-4B34-91A7-98ECD432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7EED899E-191E-422E-AA54-0436BEE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Asignar controles</a:t>
            </a:r>
          </a:p>
        </p:txBody>
      </p:sp>
      <p:sp>
        <p:nvSpPr>
          <p:cNvPr id="14" name="step-num-5">
            <a:extLst xmlns:a="http://schemas.openxmlformats.org/drawingml/2006/main">
              <a:ext uri="{FF2B5EF4-FFF2-40B4-BE49-F238E27FC236}">
                <a16:creationId xmlns:a16="http://schemas.microsoft.com/office/drawing/2014/main" id="{99F42A40-0063-4BBF-84D6-A8BC0DD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01CB6FC0-806B-4569-8516-5A1B2362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57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Exportar paquete</a:t>
            </a:r>
          </a:p>
        </p:txBody>
      </p:sp>
      <p:sp>
        <p:nvSpPr>
          <p:cNvPr id="16" name="lab-command">
            <a:extLst xmlns:a="http://schemas.openxmlformats.org/drawingml/2006/main">
              <a:ext uri="{FF2B5EF4-FFF2-40B4-BE49-F238E27FC236}">
                <a16:creationId xmlns:a16="http://schemas.microsoft.com/office/drawing/2014/main" id="{E9E244F9-FBBC-4DB2-8356-DD14628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76750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streamlit run apps/sesion10_evaluation_dashboard.py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070AFC-D91C-496D-9B0B-A09089D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997506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B37747AA-CA76-4E07-B471-D57B209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INCIDENTES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BC0257-D790-4B14-8C5E-AE5A851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 incidente debe terminar con reevaluación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A702FEF-C746-4E37-BDB8-2D4AB4D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7AB7879-982F-433A-9259-3E6EDEA7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Secuencia mínima</a:t>
            </a:r>
          </a:p>
        </p:txBody>
      </p:sp>
      <p:sp>
        <p:nvSpPr>
          <p:cNvPr id="5" name="list-left">
            <a:extLst xmlns:a="http://schemas.openxmlformats.org/drawingml/2006/main">
              <a:ext uri="{FF2B5EF4-FFF2-40B4-BE49-F238E27FC236}">
                <a16:creationId xmlns:a16="http://schemas.microsoft.com/office/drawing/2014/main" id="{6CB966E3-9629-4E6B-ADB1-77D5DA6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Contener o desactivar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Preservar evidencia sin ampliar exposición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Notificar responsables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Evaluar personas y cohortes afectadas</a:t>
            </a:r>
          </a:p>
        </p:txBody>
      </p:sp>
      <p:sp>
        <p:nvSpPr>
          <p:cNvPr id="6" name="list-right">
            <a:extLst xmlns:a="http://schemas.openxmlformats.org/drawingml/2006/main">
              <a:ext uri="{FF2B5EF4-FFF2-40B4-BE49-F238E27FC236}">
                <a16:creationId xmlns:a16="http://schemas.microsoft.com/office/drawing/2014/main" id="{BB1E9B0D-CB44-43BC-BCBB-34E4B0D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Corregir y ejecutar regresión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Documentar causa raíz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Autorizar la reactivación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Habilitar explicación, corrección o apelación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158E3A-E54B-494E-A143-D9C34639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312073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4C000022-D54E-4B9B-B9A1-B4E4AAA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83975C-F983-4EB0-9346-D2BF752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despliegue lo que no puede evaluar, explicar y detener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62075BE-9744-4FBB-A064-EACE5D0A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CF1C7392-3E67-4467-9C5C-D0CF1E47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Hito 2</a:t>
            </a:r>
          </a:p>
        </p:txBody>
      </p:sp>
      <p:sp>
        <p:nvSpPr>
          <p:cNvPr id="5" name="detail">
            <a:extLst xmlns:a="http://schemas.openxmlformats.org/drawingml/2006/main">
              <a:ext uri="{FF2B5EF4-FFF2-40B4-BE49-F238E27FC236}">
                <a16:creationId xmlns:a16="http://schemas.microsoft.com/office/drawing/2014/main" id="{A331E4EC-73EA-464F-B4F7-31D81E16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Casos + cohortes + riesgos + controles + responsables + incidentes + costos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B4812C75-14B6-455D-A98F-E69AAC08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7907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6247A0-F2A5-4FE0-8197-95E616A8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37567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2026-07-25T10:44:17.4140000Z</dcterms:created>
  <dcterms:modified xsi:type="dcterms:W3CDTF">2026-07-25T10:44:17.4140000Z</dcterms:modified>
</coreProperties>
</file>